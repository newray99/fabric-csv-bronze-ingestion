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31b72a6e4e4076" /><Relationship Type="http://schemas.openxmlformats.org/officeDocument/2006/relationships/extended-properties" Target="/docProps/app.xml" Id="Rd1af3af41c9342f1" /><Relationship Type="http://schemas.openxmlformats.org/officeDocument/2006/relationships/officeDocument" Target="/ppt/presentation.xml" Id="R9390f6b77ac746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e0f8b4a8584723"/>
  </p:sldMasterIdLst>
  <p:notesMasterIdLst>
    <p:notesMasterId xmlns:r="http://schemas.openxmlformats.org/officeDocument/2006/relationships" r:id="R7fefc637b5dd4f70"/>
  </p:notesMasterIdLst>
  <p:sldIdLst>
    <p:sldId xmlns:r="http://schemas.openxmlformats.org/officeDocument/2006/relationships" id="256" r:id="Rf77e55efd14d4870"/>
    <p:sldId xmlns:r="http://schemas.openxmlformats.org/officeDocument/2006/relationships" id="257" r:id="Rc7dee08223454914"/>
    <p:sldId xmlns:r="http://schemas.openxmlformats.org/officeDocument/2006/relationships" id="258" r:id="R7b8fcbc3a63c4096"/>
    <p:sldId xmlns:r="http://schemas.openxmlformats.org/officeDocument/2006/relationships" id="259" r:id="R2131b89f84274c17"/>
    <p:sldId xmlns:r="http://schemas.openxmlformats.org/officeDocument/2006/relationships" id="260" r:id="R3256c9072d3643a5"/>
    <p:sldId xmlns:r="http://schemas.openxmlformats.org/officeDocument/2006/relationships" id="261" r:id="R2f70d3491c9c4a90"/>
    <p:sldId xmlns:r="http://schemas.openxmlformats.org/officeDocument/2006/relationships" id="262" r:id="Rc657d0ecbabf4148"/>
    <p:sldId xmlns:r="http://schemas.openxmlformats.org/officeDocument/2006/relationships" id="263" r:id="Rf9df04fa188f42b2"/>
    <p:sldId xmlns:r="http://schemas.openxmlformats.org/officeDocument/2006/relationships" id="264" r:id="R16d8c4305d5040c0"/>
    <p:sldId xmlns:r="http://schemas.openxmlformats.org/officeDocument/2006/relationships" id="265" r:id="R8159ee52696e4ae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f9c5c5df754b2d" /><Relationship Type="http://schemas.openxmlformats.org/officeDocument/2006/relationships/slideMaster" Target="/ppt/slideMasters/slideMaster1.xml" Id="Rabe0f8b4a8584723" /><Relationship Type="http://schemas.openxmlformats.org/officeDocument/2006/relationships/notesMaster" Target="/ppt/notesMasters/notesMaster1.xml" Id="R7fefc637b5dd4f70" /><Relationship Type="http://schemas.openxmlformats.org/officeDocument/2006/relationships/presProps" Target="/ppt/presProps.xml" Id="Raf1dca9ed6a74770" /><Relationship Type="http://schemas.openxmlformats.org/officeDocument/2006/relationships/tableStyles" Target="/ppt/tableStyles.xml" Id="Reee140f95b5c4939" /><Relationship Type="http://schemas.openxmlformats.org/officeDocument/2006/relationships/slide" Target="/ppt/slides/slide1.xml" Id="Rf77e55efd14d4870" /><Relationship Type="http://schemas.openxmlformats.org/officeDocument/2006/relationships/slide" Target="/ppt/slides/slide2.xml" Id="Rc7dee08223454914" /><Relationship Type="http://schemas.openxmlformats.org/officeDocument/2006/relationships/slide" Target="/ppt/slides/slide3.xml" Id="R7b8fcbc3a63c4096" /><Relationship Type="http://schemas.openxmlformats.org/officeDocument/2006/relationships/slide" Target="/ppt/slides/slide4.xml" Id="R2131b89f84274c17" /><Relationship Type="http://schemas.openxmlformats.org/officeDocument/2006/relationships/slide" Target="/ppt/slides/slide5.xml" Id="R3256c9072d3643a5" /><Relationship Type="http://schemas.openxmlformats.org/officeDocument/2006/relationships/slide" Target="/ppt/slides/slide6.xml" Id="R2f70d3491c9c4a90" /><Relationship Type="http://schemas.openxmlformats.org/officeDocument/2006/relationships/slide" Target="/ppt/slides/slide7.xml" Id="Rc657d0ecbabf4148" /><Relationship Type="http://schemas.openxmlformats.org/officeDocument/2006/relationships/slide" Target="/ppt/slides/slide8.xml" Id="Rf9df04fa188f42b2" /><Relationship Type="http://schemas.openxmlformats.org/officeDocument/2006/relationships/slide" Target="/ppt/slides/slide9.xml" Id="R16d8c4305d5040c0" /><Relationship Type="http://schemas.openxmlformats.org/officeDocument/2006/relationships/slide" Target="/ppt/slides/slide10.xml" Id="R8159ee52696e4a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b0b7e422eb45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47702b40dc4824" /><Relationship Type="http://schemas.openxmlformats.org/officeDocument/2006/relationships/notesMaster" Target="/ppt/notesMasters/notesMaster1.xml" Id="R166f9b1bca0b435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c92efd70194377" /><Relationship Type="http://schemas.openxmlformats.org/officeDocument/2006/relationships/notesMaster" Target="/ppt/notesMasters/notesMaster1.xml" Id="R96a6932e196340e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3a6ae68188b4619" /><Relationship Type="http://schemas.openxmlformats.org/officeDocument/2006/relationships/notesMaster" Target="/ppt/notesMasters/notesMaster1.xml" Id="Rfd4de82fc66c46e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2c5feefadc94bc3" /><Relationship Type="http://schemas.openxmlformats.org/officeDocument/2006/relationships/notesMaster" Target="/ppt/notesMasters/notesMaster1.xml" Id="Rbbb13e6e22a342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4d520eba0d247e3" /><Relationship Type="http://schemas.openxmlformats.org/officeDocument/2006/relationships/notesMaster" Target="/ppt/notesMasters/notesMaster1.xml" Id="Rd82f26667f10467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b71e65e9ef84ab6" /><Relationship Type="http://schemas.openxmlformats.org/officeDocument/2006/relationships/notesMaster" Target="/ppt/notesMasters/notesMaster1.xml" Id="Ra198138436104f8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539e1a110aa4a66" /><Relationship Type="http://schemas.openxmlformats.org/officeDocument/2006/relationships/notesMaster" Target="/ppt/notesMasters/notesMaster1.xml" Id="R8f90264158154e2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f57c07e10b54e7c" /><Relationship Type="http://schemas.openxmlformats.org/officeDocument/2006/relationships/notesMaster" Target="/ppt/notesMasters/notesMaster1.xml" Id="R93148b96602f468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5d2a6f3e9bf42a6" /><Relationship Type="http://schemas.openxmlformats.org/officeDocument/2006/relationships/notesMaster" Target="/ppt/notesMasters/notesMaster1.xml" Id="R7e933419f89b4be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ff986e45c654564" /><Relationship Type="http://schemas.openxmlformats.org/officeDocument/2006/relationships/notesMaster" Target="/ppt/notesMasters/notesMaster1.xml" Id="R1f27f69356974c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achieved outcome: the operational report is no longer dependent on a network-drive CSV source. The model now points to Fabric Lakehouse; Gold and Direct Lake remain the next gate.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H:/powerbi templates/figma-plugin-figma-openai-curated-remote/outputs/WMPP-Pastel-Pink-v2-Power-BI-Theme.json</a:t>
            </a:r>
          </a:p>
          <a:p xmlns:a="http://schemas.openxmlformats.org/drawingml/2006/main">
            <a:r>
              <a:t>- H:/powerbi templates/figma-plugin-figma-openai-curated-remote/outputs/WMPP-brand-preview-v2.png</a:t>
            </a:r>
          </a:p>
          <a:p xmlns:a="http://schemas.openxmlformats.org/drawingml/2006/main">
            <a:r>
              <a:t>- https://github.com/NewRay99/fabric-csv-bronze-ingestion/blob/master/project%20X/client%20documentation/SM%20Test%20v2.zip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current model is composite, with DirectQuery source tables and imported derived tables. This slide demonstrates source migration, not completion of Direct Lake.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https://github.com/NewRay99/fabric-csv-bronze-ingestion/blob/master/project%20X/client%20documentation/SM%20Test%20v2.zip</a:t>
            </a:r>
          </a:p>
          <a:p xmlns:a="http://schemas.openxmlformats.org/drawingml/2006/main">
            <a:r>
              <a:t>- https://github.com/NewRay99/fabric-csv-bronze-ingestion/blob/master/project%20X/client%20documentation/07_Semantic_Model_Changelog_v00_to_v01.md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user-described S3/object-storage landing is part of the cloud ingestion context. The semantic-model evidence specifically confirms the reporting connection to Fabric Lakehouse.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https://github.com/NewRay99/fabric-csv-bronze-ingestion/blob/master/project%20X/client%20documentation/02_As_Is_Assessment_Report.md</a:t>
            </a:r>
          </a:p>
          <a:p xmlns:a="http://schemas.openxmlformats.org/drawingml/2006/main">
            <a:r>
              <a:t>- https://github.com/NewRay99/fabric-csv-bronze-ingestion/blob/master/project%20X/client%20documentation/04_Proposed_Solution_Architecture.md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separates the visible report outcome from engineering controls. The archive issue log records ten resolved defects with regression guards, while live Fabric validation remains outstanding.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https://github.com/NewRay99/fabric-csv-bronze-ingestion/tree/master/project%20X/client%20documentation/notebooks</a:t>
            </a:r>
          </a:p>
          <a:p xmlns:a="http://schemas.openxmlformats.org/drawingml/2006/main">
            <a:r>
              <a:t>- https://github.com/NewRay99/fabric-csv-bronze-ingestion/tree/master/project%20X/client%20documentation/Power%20BI%20screenshots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screenshot demonstrates report continuity and current-data presentation. It does not prove that every target KPI has passed business acceptance.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H:/powerbi templates/figma-plugin-figma-openai-curated-remote/outputs/WMPP-referrals-overview-v2.png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Formal documentation lists 87 requirements, while the report screenshot shows 80 reportable requirements. The 117 KPI target and current semantic-model measure count also require reconciliation before sign-off.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https://github.com/NewRay99/fabric-csv-bronze-ingestion/blob/master/project%20X/client%20documentation/02_As_Is_Assessment_Report.md</a:t>
            </a:r>
          </a:p>
          <a:p xmlns:a="http://schemas.openxmlformats.org/drawingml/2006/main">
            <a:r>
              <a:t>- https://github.com/NewRay99/fabric-csv-bronze-ingestion/tree/master/project%20X/client%20documentation/Power%20BI%20screenshots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matrix deliberately distinguishes delivered, built and work-in-progress status. Static validation is not treated as production execution.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https://github.com/NewRay99/fabric-csv-bronze-ingestion/blob/master/project%20X/client%20documentation/06_Statement_of_Work.md</a:t>
            </a:r>
          </a:p>
          <a:p xmlns:a="http://schemas.openxmlformats.org/drawingml/2006/main">
            <a:r>
              <a:t>- https://github.com/NewRay99/fabric-csv-bronze-ingestion/tree/master/project%20X/client%20documentation/notebooks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newer notebook pack validates structure and compilation locally, but explicitly requires execution in the Fabric Spark/Lakehouse environment. Gold remains the active dimensional-model workstream.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https://github.com/NewRay99/fabric-csv-bronze-ingestion/blob/master/project%20X/client%20documentation/fabrics%20data%20solution.docx</a:t>
            </a:r>
          </a:p>
          <a:p xmlns:a="http://schemas.openxmlformats.org/drawingml/2006/main">
            <a:r>
              <a:t>- https://github.com/NewRay99/fabric-csv-bronze-ingestion/tree/master/project%20X/client%20documentation/notebooks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repository includes canonical monthly export logic, Gold fact_referral_snapshot orchestration and a local three-month simulation. Production replay and report integration remain pending.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https://github.com/NewRay99/fabric-csv-bronze-ingestion/blob/master/project%20X/client%20documentation/notebooks/version%2002%2004/ARCHIVE_BATCH_PROCESS.md</a:t>
            </a:r>
          </a:p>
          <a:p xmlns:a="http://schemas.openxmlformats.org/drawingml/2006/main">
            <a:r>
              <a:t>- https://github.com/NewRay99/fabric-csv-bronze-ingestion/tree/master/project%20X/client%20documentation/notebooks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definition of done: Fabric execution, reconciliation, UAT, performance/security evidence and support handover. Decommission the network source only after acceptance.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https://github.com/NewRay99/fabric-csv-bronze-ingestion/blob/master/project%20X/client%20documentation/06_Statement_of_Work.md</a:t>
            </a:r>
          </a:p>
          <a:p xmlns:a="http://schemas.openxmlformats.org/drawingml/2006/main">
            <a:r>
              <a:t>- https://github.com/NewRay99/fabric-csv-bronze-ingestion/blob/master/project%20X/client%20documentation/notebooks/version%2002%2004/VALIDATION.md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a1bfcaa25d42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336b45fc7e4ca7" /><Relationship Type="http://schemas.openxmlformats.org/officeDocument/2006/relationships/slideLayout" Target="/ppt/slideLayouts/slideLayout1.xml" Id="Rbd6fad6f59da462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6fad6f59da46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87e54e91af487e" /><Relationship Type="http://schemas.openxmlformats.org/officeDocument/2006/relationships/image" Target="/ppt/media/image.png" Id="R2d90eeb483964b1b" /><Relationship Type="http://schemas.openxmlformats.org/officeDocument/2006/relationships/notesSlide" Target="/ppt/notesSlides/notesSlide1.xml" Id="R921db96f6fa045f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264b69fb4241af" /><Relationship Type="http://schemas.openxmlformats.org/officeDocument/2006/relationships/image" Target="/ppt/media/image2.png" Id="R64b41a4d6ced4e91" /><Relationship Type="http://schemas.openxmlformats.org/officeDocument/2006/relationships/notesSlide" Target="/ppt/notesSlides/notesSlide2.xml" Id="Ra9c45422a65648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93c2427abf4a87" /><Relationship Type="http://schemas.openxmlformats.org/officeDocument/2006/relationships/image" Target="/ppt/media/image3.png" Id="R6d7e92ae10e549ba" /><Relationship Type="http://schemas.openxmlformats.org/officeDocument/2006/relationships/notesSlide" Target="/ppt/notesSlides/notesSlide3.xml" Id="R5375bdafdb1e4e8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44aa56bdfc47bf" /><Relationship Type="http://schemas.openxmlformats.org/officeDocument/2006/relationships/image" Target="/ppt/media/image4.png" Id="R8e62e5ab7e6a467e" /><Relationship Type="http://schemas.openxmlformats.org/officeDocument/2006/relationships/notesSlide" Target="/ppt/notesSlides/notesSlide4.xml" Id="Rac6216f2d6c643f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7ba8abeb5f444b" /><Relationship Type="http://schemas.openxmlformats.org/officeDocument/2006/relationships/image" Target="/ppt/media/image5.png" Id="Rfce420e597eb4c6a" /><Relationship Type="http://schemas.openxmlformats.org/officeDocument/2006/relationships/image" Target="/ppt/media/image6.png" Id="Rda339fc7581340fc" /><Relationship Type="http://schemas.openxmlformats.org/officeDocument/2006/relationships/notesSlide" Target="/ppt/notesSlides/notesSlide5.xml" Id="R676dd892dd57431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42e8012ed04495" /><Relationship Type="http://schemas.openxmlformats.org/officeDocument/2006/relationships/image" Target="/ppt/media/image7.png" Id="Rf42cafb292084726" /><Relationship Type="http://schemas.openxmlformats.org/officeDocument/2006/relationships/image" Target="/ppt/media/image.jpeg" Id="Rd79d360e157648b2" /><Relationship Type="http://schemas.openxmlformats.org/officeDocument/2006/relationships/notesSlide" Target="/ppt/notesSlides/notesSlide6.xml" Id="R204dfc6a823e401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773bd2268e41ff" /><Relationship Type="http://schemas.openxmlformats.org/officeDocument/2006/relationships/image" Target="/ppt/media/image8.png" Id="R76a8c9364904465d" /><Relationship Type="http://schemas.openxmlformats.org/officeDocument/2006/relationships/notesSlide" Target="/ppt/notesSlides/notesSlide7.xml" Id="Rc88ea17072f14d7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554b4e18fe4856" /><Relationship Type="http://schemas.openxmlformats.org/officeDocument/2006/relationships/image" Target="/ppt/media/image9.png" Id="R14c6939b7a0f4edd" /><Relationship Type="http://schemas.openxmlformats.org/officeDocument/2006/relationships/notesSlide" Target="/ppt/notesSlides/notesSlide8.xml" Id="R462504d132c4468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af440bd0a54b09" /><Relationship Type="http://schemas.openxmlformats.org/officeDocument/2006/relationships/image" Target="/ppt/media/image10.png" Id="R5c794cf191344eee" /><Relationship Type="http://schemas.openxmlformats.org/officeDocument/2006/relationships/notesSlide" Target="/ppt/notesSlides/notesSlide9.xml" Id="R1b9f07a8fa4c403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f452222ec949df" /><Relationship Type="http://schemas.openxmlformats.org/officeDocument/2006/relationships/image" Target="/ppt/media/image11.png" Id="R759d2b829e924318" /><Relationship Type="http://schemas.openxmlformats.org/officeDocument/2006/relationships/notesSlide" Target="/ppt/notesSlides/notesSlide10.xml" Id="Rd2547d3d907f490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1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14F8E2-FC47-437F-9054-3F67A5F9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0"/>
            <a:ext cx="914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B7D"/>
          </a:solidFill>
          <a:ln xmlns:a="http://schemas.openxmlformats.org/drawingml/2006/main" w="0">
            <a:solidFill>
              <a:srgbClr val="E96B7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847A2D-8073-44AB-B4BD-9ED5F882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0"/>
            <a:ext cx="800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2A5"/>
          </a:solidFill>
          <a:ln xmlns:a="http://schemas.openxmlformats.org/drawingml/2006/main" w="0">
            <a:solidFill>
              <a:srgbClr val="F092A5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90eeb483964b1b"/>
          <a:stretch xmlns:a="http://schemas.openxmlformats.org/drawingml/2006/main"/>
        </p:blipFill>
        <p:spPr>
          <a:xfrm xmlns:a="http://schemas.openxmlformats.org/drawingml/2006/main">
            <a:off x="400050" y="372541"/>
            <a:ext cx="3190875" cy="626519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CF0958-1EA9-48B7-AD7E-5EC918FF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573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4758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C84758"/>
                </a:solidFill>
                <a:latin typeface="Segoe UI"/>
                <a:ea typeface="Segoe UI"/>
                <a:cs typeface="Segoe UI"/>
              </a:rPr>
              <a:t>WMPP DATA PLATFORM PROGRESS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24D848-3BAE-49DF-8FD9-2C50176F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9144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2B2427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4800" b="1">
                <a:solidFill>
                  <a:srgbClr val="2B2427"/>
                </a:solidFill>
                <a:latin typeface="Segoe UI Semibold"/>
                <a:ea typeface="Segoe UI Semibold"/>
                <a:cs typeface="Segoe UI Semibold"/>
              </a:rPr>
              <a:t>Reporting now runs on governed cloud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EE39D1-83BE-44EE-BD42-94E3CC6EA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10096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B7D"/>
          </a:solidFill>
          <a:ln xmlns:a="http://schemas.openxmlformats.org/drawingml/2006/main" w="0">
            <a:solidFill>
              <a:srgbClr val="E96B7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B78C65-A60F-44BC-A4FF-F76843318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67200"/>
            <a:ext cx="828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1575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1575C"/>
                </a:solidFill>
                <a:latin typeface="Segoe UI"/>
                <a:ea typeface="Segoe UI"/>
                <a:cs typeface="Segoe UI"/>
              </a:rPr>
              <a:t>The legacy network-drive dependency has been removed. Gold modelling and point-in-time reporting are the next delivery gates.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1BF9C1-0781-44C3-927E-09FF125EA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483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56A7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756A70"/>
                </a:solidFill>
                <a:latin typeface="Segoe UI"/>
                <a:ea typeface="Segoe UI"/>
                <a:cs typeface="Segoe UI"/>
              </a:rPr>
              <a:t>11 AUGUST 2026</a:t>
            </a:r>
          </a:p>
        </p:txBody>
      </p:sp>
    </p:spTree>
    <p:extLst>
      <p:ext uri="{BB962C8B-B14F-4D97-AF65-F5344CB8AC3E}">
        <p14:creationId xmlns:p14="http://schemas.microsoft.com/office/powerpoint/2010/main" val="18794534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1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0A55B8-D2A8-4560-A539-F7B289284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116C76-CA6F-40D9-8B33-541ED6DC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66775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C9"/>
          </a:solidFill>
          <a:ln xmlns:a="http://schemas.openxmlformats.org/drawingml/2006/main" w="0">
            <a:solidFill>
              <a:srgbClr val="F7BDC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77E300-13E4-4903-92CB-3402DA62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4758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C84758"/>
                </a:solidFill>
                <a:latin typeface="Segoe UI"/>
                <a:ea typeface="Segoe UI"/>
                <a:cs typeface="Segoe UI"/>
              </a:rPr>
              <a:t>EVIDENCE SNAPSHOT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b41a4d6ced4e91"/>
          <a:stretch xmlns:a="http://schemas.openxmlformats.org/drawingml/2006/main"/>
        </p:blipFill>
        <p:spPr>
          <a:xfrm xmlns:a="http://schemas.openxmlformats.org/drawingml/2006/main">
            <a:off x="8810625" y="181432"/>
            <a:ext cx="2857500" cy="56106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6F4CCE-91AD-4A20-A753-9AC2E30D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969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DCE3"/>
          </a:solidFill>
          <a:ln xmlns:a="http://schemas.openxmlformats.org/drawingml/2006/main" w="0">
            <a:solidFill>
              <a:srgbClr val="EEDC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01FC19-7ECD-437F-85D4-4758A4DC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532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87B81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887B81"/>
                </a:solidFill>
                <a:latin typeface="Segoe UI"/>
                <a:ea typeface="Segoe UI"/>
                <a:cs typeface="Segoe UI"/>
              </a:rPr>
              <a:t>WMPP DATA PLATFORM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EDFB88-3E7B-429E-9BF6-E4D56297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56A70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756A70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6931A7-E875-4DC4-BF0B-EF738378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083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B2427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925" b="1">
                <a:solidFill>
                  <a:srgbClr val="2B2427"/>
                </a:solidFill>
                <a:latin typeface="Segoe UI Semibold"/>
                <a:ea typeface="Segoe UI Semibold"/>
                <a:cs typeface="Segoe UI Semibold"/>
              </a:rPr>
              <a:t>The source migration is evidenced in the supplied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73A21C-36D1-4B9A-A83F-540AA8E8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669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B7D"/>
          </a:solidFill>
          <a:ln xmlns:a="http://schemas.openxmlformats.org/drawingml/2006/main" w="0">
            <a:solidFill>
              <a:srgbClr val="E96B7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2E0ECE-DBC6-45F0-8193-AFC8E8A3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81175"/>
            <a:ext cx="981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56A70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756A70"/>
                </a:solidFill>
                <a:latin typeface="Segoe UI"/>
                <a:ea typeface="Segoe UI"/>
                <a:cs typeface="Segoe UI"/>
              </a:rPr>
              <a:t>Counts below are taken from the current PBIP/TMDL and report materials.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DADD48-4829-4C93-8968-3D52959D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3143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438B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5850" b="1">
                <a:solidFill>
                  <a:srgbClr val="438B70"/>
                </a:solidFill>
                <a:latin typeface="Segoe UI Semibold"/>
                <a:ea typeface="Segoe UI Semibold"/>
                <a:cs typeface="Segoe UI Semibold"/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03B825-6841-437E-B4F4-F2BF5C32C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433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8B70"/>
          </a:solidFill>
          <a:ln xmlns:a="http://schemas.openxmlformats.org/drawingml/2006/main" w="0">
            <a:solidFill>
              <a:srgbClr val="438B7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84D88F-8FEB-4B25-ABB9-61671071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29100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575C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61575C"/>
                </a:solidFill>
                <a:latin typeface="Segoe UI"/>
                <a:ea typeface="Segoe UI"/>
                <a:cs typeface="Segoe UI"/>
              </a:rPr>
              <a:t>network or file-source</a:t>
            </a:r>
          </a:p>
          <a:p xmlns:a="http://schemas.openxmlformats.org/drawingml/2006/main">
            <a:pPr algn="l">
              <a:defRPr sz="1650" b="0">
                <a:solidFill>
                  <a:srgbClr val="61575C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61575C"/>
                </a:solidFill>
                <a:latin typeface="Segoe UI"/>
                <a:ea typeface="Segoe UI"/>
                <a:cs typeface="Segoe UI"/>
              </a:rPr>
              <a:t>references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AE12A1-A49B-4EB0-AEEC-6865C1B6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57500"/>
            <a:ext cx="95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DCE3"/>
          </a:solidFill>
          <a:ln xmlns:a="http://schemas.openxmlformats.org/drawingml/2006/main" w="0">
            <a:solidFill>
              <a:srgbClr val="EEDC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3B35AB-6E72-438D-9D3A-D5A91D7A2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724150"/>
            <a:ext cx="3143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E96B7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5850" b="1">
                <a:solidFill>
                  <a:srgbClr val="E96B7D"/>
                </a:solidFill>
                <a:latin typeface="Segoe UI Semibold"/>
                <a:ea typeface="Segoe UI Semibold"/>
                <a:cs typeface="Segoe UI Semibold"/>
              </a:rPr>
              <a:t>37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C3885F-BDB0-42A4-8EA7-CFEE92BE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433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B7D"/>
          </a:solidFill>
          <a:ln xmlns:a="http://schemas.openxmlformats.org/drawingml/2006/main" w="0">
            <a:solidFill>
              <a:srgbClr val="E96B7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7D04C6-4466-4467-8FAD-02D14F25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29100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575C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61575C"/>
                </a:solidFill>
                <a:latin typeface="Segoe UI"/>
                <a:ea typeface="Segoe UI"/>
                <a:cs typeface="Segoe UI"/>
              </a:rPr>
              <a:t>source tables connected</a:t>
            </a:r>
          </a:p>
          <a:p xmlns:a="http://schemas.openxmlformats.org/drawingml/2006/main">
            <a:pPr algn="l">
              <a:defRPr sz="1650" b="0">
                <a:solidFill>
                  <a:srgbClr val="61575C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61575C"/>
                </a:solidFill>
                <a:latin typeface="Segoe UI"/>
                <a:ea typeface="Segoe UI"/>
                <a:cs typeface="Segoe UI"/>
              </a:rPr>
              <a:t>to LH_BCT_WMPP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FB0B81-EE61-456C-860C-E238D9E9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57500"/>
            <a:ext cx="95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DCE3"/>
          </a:solidFill>
          <a:ln xmlns:a="http://schemas.openxmlformats.org/drawingml/2006/main" w="0">
            <a:solidFill>
              <a:srgbClr val="EEDC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86A133-561D-482C-BAD0-4B20A5E99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24150"/>
            <a:ext cx="3143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2B2427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5850" b="1">
                <a:solidFill>
                  <a:srgbClr val="2B2427"/>
                </a:solidFill>
                <a:latin typeface="Segoe UI Semibold"/>
                <a:ea typeface="Segoe UI Semibold"/>
                <a:cs typeface="Segoe UI Semibold"/>
              </a:rPr>
              <a:t>10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B100A6-627C-4B0B-A55E-50D9BD36D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433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427"/>
          </a:solidFill>
          <a:ln xmlns:a="http://schemas.openxmlformats.org/drawingml/2006/main" w="0">
            <a:solidFill>
              <a:srgbClr val="2B242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947CA3-F15B-41AB-8125-2C8B2475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229100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575C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61575C"/>
                </a:solidFill>
                <a:latin typeface="Segoe UI"/>
                <a:ea typeface="Segoe UI"/>
                <a:cs typeface="Segoe UI"/>
              </a:rPr>
              <a:t>Power BI report</a:t>
            </a:r>
          </a:p>
          <a:p xmlns:a="http://schemas.openxmlformats.org/drawingml/2006/main">
            <a:pPr algn="l">
              <a:defRPr sz="1650" b="0">
                <a:solidFill>
                  <a:srgbClr val="61575C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61575C"/>
                </a:solidFill>
                <a:latin typeface="Segoe UI"/>
                <a:ea typeface="Segoe UI"/>
                <a:cs typeface="Segoe UI"/>
              </a:rPr>
              <a:t>pages retained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B78F65-612C-4750-BF76-C9202CF3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4357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56A70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756A70"/>
                </a:solidFill>
                <a:latin typeface="Segoe UI"/>
                <a:ea typeface="Segoe UI"/>
                <a:cs typeface="Segoe UI"/>
              </a:rPr>
              <a:t>Current state: Fabric Lakehouse endpoint with a composite semantic model—not Direct Lake yet.</a:t>
            </a:r>
          </a:p>
        </p:txBody>
      </p:sp>
    </p:spTree>
    <p:extLst>
      <p:ext uri="{BB962C8B-B14F-4D97-AF65-F5344CB8AC3E}">
        <p14:creationId xmlns:p14="http://schemas.microsoft.com/office/powerpoint/2010/main" val="4589976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1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099BA9-ACD0-49F6-A199-9EF1E848D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BE4902-654E-42B6-B129-9F4D6E6C2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66775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C9"/>
          </a:solidFill>
          <a:ln xmlns:a="http://schemas.openxmlformats.org/drawingml/2006/main" w="0">
            <a:solidFill>
              <a:srgbClr val="F7BDC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12D9B1-F1DC-4BEB-B97B-CCC7251C7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4758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C84758"/>
                </a:solidFill>
                <a:latin typeface="Segoe UI"/>
                <a:ea typeface="Segoe UI"/>
                <a:cs typeface="Segoe UI"/>
              </a:rPr>
              <a:t>MIGRATION PATH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7e92ae10e549ba"/>
          <a:stretch xmlns:a="http://schemas.openxmlformats.org/drawingml/2006/main"/>
        </p:blipFill>
        <p:spPr>
          <a:xfrm xmlns:a="http://schemas.openxmlformats.org/drawingml/2006/main">
            <a:off x="8810625" y="181432"/>
            <a:ext cx="2857500" cy="56106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A25BAB-2057-4910-B290-57A7EB9AD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969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DCE3"/>
          </a:solidFill>
          <a:ln xmlns:a="http://schemas.openxmlformats.org/drawingml/2006/main" w="0">
            <a:solidFill>
              <a:srgbClr val="EEDC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273AFE-DC49-49B7-A6D6-01A5E3C12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532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87B81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887B81"/>
                </a:solidFill>
                <a:latin typeface="Segoe UI"/>
                <a:ea typeface="Segoe UI"/>
                <a:cs typeface="Segoe UI"/>
              </a:rPr>
              <a:t>WMPP DATA PLATFORM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8ED75B-9B36-4026-97B3-FFC420474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56A70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756A70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918FD3-32AF-4684-BE81-F6962200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083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B2427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925" b="1">
                <a:solidFill>
                  <a:srgbClr val="2B2427"/>
                </a:solidFill>
                <a:latin typeface="Segoe UI Semibold"/>
                <a:ea typeface="Segoe UI Semibold"/>
                <a:cs typeface="Segoe UI Semibold"/>
              </a:rPr>
              <a:t>The delivery path moves from legacy files to governed Gold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F14450-D9F6-4B91-B563-73A74461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669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B7D"/>
          </a:solidFill>
          <a:ln xmlns:a="http://schemas.openxmlformats.org/drawingml/2006/main" w="0">
            <a:solidFill>
              <a:srgbClr val="E96B7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E03CA8-1CE4-4847-9DCD-7CB11612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43300"/>
            <a:ext cx="933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DCE3"/>
          </a:solidFill>
          <a:ln xmlns:a="http://schemas.openxmlformats.org/drawingml/2006/main" w="0">
            <a:solidFill>
              <a:srgbClr val="EEDC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545073-7531-487F-9F97-82BF816C2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1F4"/>
          </a:solidFill>
          <a:ln xmlns:a="http://schemas.openxmlformats.org/drawingml/2006/main" w="38100">
            <a:solidFill>
              <a:srgbClr val="C8475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4DB10D-9098-4267-9385-A9A23A56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84758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C84758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668D72-9B6B-4E8A-91E1-46B0B57DB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9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4758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C84758"/>
                </a:solidFill>
                <a:latin typeface="Segoe UI"/>
                <a:ea typeface="Segoe UI"/>
                <a:cs typeface="Segoe UI"/>
              </a:rPr>
              <a:t>BEFORE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4B5B5F-2838-4CF4-997F-1FC3476D5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B2427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875" b="1">
                <a:solidFill>
                  <a:srgbClr val="2B2427"/>
                </a:solidFill>
                <a:latin typeface="Segoe UI Semibold"/>
                <a:ea typeface="Segoe UI Semibold"/>
                <a:cs typeface="Segoe UI Semibold"/>
              </a:rPr>
              <a:t>Network-drive CSV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19AE98-439F-418D-8E18-7ECD49B1D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0100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56A70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756A70"/>
                </a:solidFill>
                <a:latin typeface="Segoe UI"/>
                <a:ea typeface="Segoe UI"/>
                <a:cs typeface="Segoe UI"/>
              </a:rPr>
              <a:t>Manual dependency, Import refresh and limited governance.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097560-F902-4C8D-8B7A-0E7F557C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147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1F4"/>
          </a:solidFill>
          <a:ln xmlns:a="http://schemas.openxmlformats.org/drawingml/2006/main" w="38100">
            <a:solidFill>
              <a:srgbClr val="438B7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97DE10-A92A-43FF-A23D-185B767DC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194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38B7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438B70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04DAD2-37A5-4E10-9126-309F40A6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8B7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438B70"/>
                </a:solidFill>
                <a:latin typeface="Segoe UI"/>
                <a:ea typeface="Segoe UI"/>
                <a:cs typeface="Segoe UI"/>
              </a:rPr>
              <a:t>NOW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2A56EF-04AF-4ADF-87EB-A982C2A03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95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B2427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875" b="1">
                <a:solidFill>
                  <a:srgbClr val="2B2427"/>
                </a:solidFill>
                <a:latin typeface="Segoe UI Semibold"/>
                <a:ea typeface="Segoe UI Semibold"/>
                <a:cs typeface="Segoe UI Semibold"/>
              </a:rPr>
              <a:t>Fabric Lakehouse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F766E6-C1AA-4E3E-A89E-5EC9FD4F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10100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56A70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756A70"/>
                </a:solidFill>
                <a:latin typeface="Segoe UI"/>
                <a:ea typeface="Segoe UI"/>
                <a:cs typeface="Segoe UI"/>
              </a:rPr>
              <a:t>Latest operational data is exposed through LH_BCT_WMPP.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DF9D11-BAE6-402A-8988-0735E757F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147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1F4"/>
          </a:solidFill>
          <a:ln xmlns:a="http://schemas.openxmlformats.org/drawingml/2006/main" w="38100">
            <a:solidFill>
              <a:srgbClr val="E96B7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177CBF-57F0-49AC-B61A-B0ADFD2A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194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96B7D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E96B7D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6D0276-4A22-4EF2-8197-E29D0F70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09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96B7D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E96B7D"/>
                </a:solidFill>
                <a:latin typeface="Segoe UI"/>
                <a:ea typeface="Segoe UI"/>
                <a:cs typeface="Segoe UI"/>
              </a:rPr>
              <a:t>NEXT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3E14CE-F00A-4B54-B631-2747CD83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95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B2427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875" b="1">
                <a:solidFill>
                  <a:srgbClr val="2B2427"/>
                </a:solidFill>
                <a:latin typeface="Segoe UI Semibold"/>
                <a:ea typeface="Segoe UI Semibold"/>
                <a:cs typeface="Segoe UI Semibold"/>
              </a:rPr>
              <a:t>Gold + Direct Lake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E33AAD-A4C8-44DD-8479-A130E57D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10100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56A70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756A70"/>
                </a:solidFill>
                <a:latin typeface="Segoe UI"/>
                <a:ea typeface="Segoe UI"/>
                <a:cs typeface="Segoe UI"/>
              </a:rPr>
              <a:t>Conformed dimensions, governed facts and point-in-time analysis.</a:t>
            </a:r>
          </a:p>
        </p:txBody>
      </p:sp>
    </p:spTree>
    <p:extLst>
      <p:ext uri="{BB962C8B-B14F-4D97-AF65-F5344CB8AC3E}">
        <p14:creationId xmlns:p14="http://schemas.microsoft.com/office/powerpoint/2010/main" val="17470169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1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2B9FA5-3F19-4838-BBD1-D14CD6A1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79E51C-0DB2-4AFF-BCEE-E816628A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66775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C9"/>
          </a:solidFill>
          <a:ln xmlns:a="http://schemas.openxmlformats.org/drawingml/2006/main" w="0">
            <a:solidFill>
              <a:srgbClr val="F7BDC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A4D8AD-B8E2-4C1D-86F3-D0D0F2AD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4758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C84758"/>
                </a:solidFill>
                <a:latin typeface="Segoe UI"/>
                <a:ea typeface="Segoe UI"/>
                <a:cs typeface="Segoe UI"/>
              </a:rPr>
              <a:t>ACHIEVEMENTS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62e5ab7e6a467e"/>
          <a:stretch xmlns:a="http://schemas.openxmlformats.org/drawingml/2006/main"/>
        </p:blipFill>
        <p:spPr>
          <a:xfrm xmlns:a="http://schemas.openxmlformats.org/drawingml/2006/main">
            <a:off x="8810625" y="181432"/>
            <a:ext cx="2857500" cy="56106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48FC9F-54D5-4270-ACC4-2DD67C697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969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DCE3"/>
          </a:solidFill>
          <a:ln xmlns:a="http://schemas.openxmlformats.org/drawingml/2006/main" w="0">
            <a:solidFill>
              <a:srgbClr val="EEDC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15AC5A-AE39-4C5D-B5EE-E50D0808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532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87B81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887B81"/>
                </a:solidFill>
                <a:latin typeface="Segoe UI"/>
                <a:ea typeface="Segoe UI"/>
                <a:cs typeface="Segoe UI"/>
              </a:rPr>
              <a:t>WMPP DATA PLATFORM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91CD22-EE44-4369-AD8B-753B8EC9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56A70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756A70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540FA1-543A-45F4-9D0E-22852361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083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B2427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925" b="1">
                <a:solidFill>
                  <a:srgbClr val="2B2427"/>
                </a:solidFill>
                <a:latin typeface="Segoe UI Semibold"/>
                <a:ea typeface="Segoe UI Semibold"/>
                <a:cs typeface="Segoe UI Semibold"/>
              </a:rPr>
              <a:t>Four foundations are now in place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2C852E-6AFC-4358-9A51-27CAD7C9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669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B7D"/>
          </a:solidFill>
          <a:ln xmlns:a="http://schemas.openxmlformats.org/drawingml/2006/main" w="0">
            <a:solidFill>
              <a:srgbClr val="E96B7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0FD146-AEB8-4938-ACCE-45DD7D6AA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438400"/>
            <a:ext cx="95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DCE3"/>
          </a:solidFill>
          <a:ln xmlns:a="http://schemas.openxmlformats.org/drawingml/2006/main" w="0">
            <a:solidFill>
              <a:srgbClr val="EEDC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2F738B-06ED-4212-8D8C-52B13091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62400"/>
            <a:ext cx="1083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DCE3"/>
          </a:solidFill>
          <a:ln xmlns:a="http://schemas.openxmlformats.org/drawingml/2006/main" w="0">
            <a:solidFill>
              <a:srgbClr val="EEDC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9178BB-3F99-4E03-AFCD-574E0DF9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96B7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875" b="1">
                <a:solidFill>
                  <a:srgbClr val="E96B7D"/>
                </a:solidFill>
                <a:latin typeface="Segoe UI Semibold"/>
                <a:ea typeface="Segoe UI Semibold"/>
                <a:cs typeface="Segoe UI Semibold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AAD234-C6A5-4CC6-9390-AD4321E17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003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B2427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800" b="1">
                <a:solidFill>
                  <a:srgbClr val="2B2427"/>
                </a:solidFill>
                <a:latin typeface="Segoe UI Semibold"/>
                <a:ea typeface="Segoe UI Semibold"/>
                <a:cs typeface="Segoe UI Semibold"/>
              </a:rPr>
              <a:t>Cloud-source repointing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F22094-7F50-49F5-8E45-7351AFA4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76550"/>
            <a:ext cx="438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56A70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756A70"/>
                </a:solidFill>
                <a:latin typeface="Segoe UI"/>
                <a:ea typeface="Segoe UI"/>
                <a:cs typeface="Segoe UI"/>
              </a:rPr>
              <a:t>Legacy network/file-source references have been removed from the model.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86CA1A-5D64-48C8-97C6-D1216DAF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96B7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875" b="1">
                <a:solidFill>
                  <a:srgbClr val="E96B7D"/>
                </a:solidFill>
                <a:latin typeface="Segoe UI Semibold"/>
                <a:ea typeface="Segoe UI Semibold"/>
                <a:cs typeface="Segoe UI Semibold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880F61-C3FC-4628-8C6E-50589F43F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003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B2427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800" b="1">
                <a:solidFill>
                  <a:srgbClr val="2B2427"/>
                </a:solidFill>
                <a:latin typeface="Segoe UI Semibold"/>
                <a:ea typeface="Segoe UI Semibold"/>
                <a:cs typeface="Segoe UI Semibold"/>
              </a:rPr>
              <a:t>Report continuity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65211E-83D2-4AF9-AA8C-02CACDB81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76550"/>
            <a:ext cx="438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56A70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756A70"/>
                </a:solidFill>
                <a:latin typeface="Segoe UI"/>
                <a:ea typeface="Segoe UI"/>
                <a:cs typeface="Segoe UI"/>
              </a:rPr>
              <a:t>The ten-page Power BI experience has been retained during migration.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BAD336-6F1A-4DFC-A8A9-EB8250499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57675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96B7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875" b="1">
                <a:solidFill>
                  <a:srgbClr val="E96B7D"/>
                </a:solidFill>
                <a:latin typeface="Segoe UI Semibold"/>
                <a:ea typeface="Segoe UI Semibold"/>
                <a:cs typeface="Segoe UI Semibold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DD5A87-1478-4938-B3A2-38F26EB7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5767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B2427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800" b="1">
                <a:solidFill>
                  <a:srgbClr val="2B2427"/>
                </a:solidFill>
                <a:latin typeface="Segoe UI Semibold"/>
                <a:ea typeface="Segoe UI Semibold"/>
                <a:cs typeface="Segoe UI Semibold"/>
              </a:rPr>
              <a:t>Traceability visibility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4BE664-E048-4A3A-83A3-BDD0EAC2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33925"/>
            <a:ext cx="438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56A70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756A70"/>
                </a:solidFill>
                <a:latin typeface="Segoe UI"/>
                <a:ea typeface="Segoe UI"/>
                <a:cs typeface="Segoe UI"/>
              </a:rPr>
              <a:t>KPI IDs and requirements are linked to measures, pages and delivery status.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496B8C-B73D-4CDF-B7E5-4FF21538D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57675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96B7D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875" b="1">
                <a:solidFill>
                  <a:srgbClr val="E96B7D"/>
                </a:solidFill>
                <a:latin typeface="Segoe UI Semibold"/>
                <a:ea typeface="Segoe UI Semibold"/>
                <a:cs typeface="Segoe UI Semibold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73658E-059F-417E-9174-F27D505C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25767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B2427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800" b="1">
                <a:solidFill>
                  <a:srgbClr val="2B2427"/>
                </a:solidFill>
                <a:latin typeface="Segoe UI Semibold"/>
                <a:ea typeface="Segoe UI Semibold"/>
                <a:cs typeface="Segoe UI Semibold"/>
              </a:rPr>
              <a:t>Controlled ingestion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F40758-5DE7-4541-A65C-4F9CD2F1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733925"/>
            <a:ext cx="438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56A70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756A70"/>
                </a:solidFill>
                <a:latin typeface="Segoe UI"/>
                <a:ea typeface="Segoe UI"/>
                <a:cs typeface="Segoe UI"/>
              </a:rPr>
              <a:t>Archive, retry, reload and audit controls are implemented in notebooks.</a:t>
            </a:r>
          </a:p>
        </p:txBody>
      </p:sp>
    </p:spTree>
    <p:extLst>
      <p:ext uri="{BB962C8B-B14F-4D97-AF65-F5344CB8AC3E}">
        <p14:creationId xmlns:p14="http://schemas.microsoft.com/office/powerpoint/2010/main" val="17939156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1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38B39A-9411-4A64-8DA8-C9375E34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35F12A-CB56-4029-91C0-CEC43F626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66775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C9"/>
          </a:solidFill>
          <a:ln xmlns:a="http://schemas.openxmlformats.org/drawingml/2006/main" w="0">
            <a:solidFill>
              <a:srgbClr val="F7BDC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0114CD-4886-4080-BDA6-1B187218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4758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C84758"/>
                </a:solidFill>
                <a:latin typeface="Segoe UI"/>
                <a:ea typeface="Segoe UI"/>
                <a:cs typeface="Segoe UI"/>
              </a:rPr>
              <a:t>POWER BI CONTINUITY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e420e597eb4c6a"/>
          <a:stretch xmlns:a="http://schemas.openxmlformats.org/drawingml/2006/main"/>
        </p:blipFill>
        <p:spPr>
          <a:xfrm xmlns:a="http://schemas.openxmlformats.org/drawingml/2006/main">
            <a:off x="8810625" y="181432"/>
            <a:ext cx="2857500" cy="56106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63D443-8A1D-4B71-B1F4-EF9970D6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969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DCE3"/>
          </a:solidFill>
          <a:ln xmlns:a="http://schemas.openxmlformats.org/drawingml/2006/main" w="0">
            <a:solidFill>
              <a:srgbClr val="EEDC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EFC008-C65F-487E-89A7-CE36AC40A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532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87B81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887B81"/>
                </a:solidFill>
                <a:latin typeface="Segoe UI"/>
                <a:ea typeface="Segoe UI"/>
                <a:cs typeface="Segoe UI"/>
              </a:rPr>
              <a:t>WMPP DATA PLATFORM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31CAB7-7308-4E39-954B-41D7DF18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56A70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756A70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B4FF76-A3AA-4E64-96FD-D0387A85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083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B2427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925" b="1">
                <a:solidFill>
                  <a:srgbClr val="2B2427"/>
                </a:solidFill>
                <a:latin typeface="Segoe UI Semibold"/>
                <a:ea typeface="Segoe UI Semibold"/>
                <a:cs typeface="Segoe UI Semibold"/>
              </a:rPr>
              <a:t>The operational report remains usable during migration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32BBC0-F873-4F71-92B3-B2C7CE66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669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B7D"/>
          </a:solidFill>
          <a:ln xmlns:a="http://schemas.openxmlformats.org/drawingml/2006/main" w="0">
            <a:solidFill>
              <a:srgbClr val="E96B7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D7FDA9-C614-4F01-B648-21078F1DC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09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4758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C84758"/>
                </a:solidFill>
                <a:latin typeface="Segoe UI"/>
                <a:ea typeface="Segoe UI"/>
                <a:cs typeface="Segoe UI"/>
              </a:rPr>
              <a:t>ACTIVE REFERRALS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C26EF2-40D0-483A-A3F0-EECC42E9F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0"/>
            <a:ext cx="4572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575C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61575C"/>
                </a:solidFill>
                <a:latin typeface="Segoe UI"/>
                <a:ea typeface="Segoe UI"/>
                <a:cs typeface="Segoe UI"/>
              </a:rPr>
              <a:t>The refreshed report continues to provide current operational views while the dimensional model is built behind it.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0F64E-2CC2-4183-9F7B-141185A9D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0530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B7D"/>
          </a:solidFill>
          <a:ln xmlns:a="http://schemas.openxmlformats.org/drawingml/2006/main" w="0">
            <a:solidFill>
              <a:srgbClr val="E96B7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9D3A42-44D2-42D6-AFC7-514C3314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0"/>
            <a:ext cx="4572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56A70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756A70"/>
                </a:solidFill>
                <a:latin typeface="Segoe UI"/>
                <a:ea typeface="Segoe UI"/>
                <a:cs typeface="Segoe UI"/>
              </a:rPr>
              <a:t>This phased approach preserves reporting value first, then moves the semantic layer to governed Gold facts and dimensions.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E9D5B5-FED1-4D2E-8CC9-7CC1A9754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247900"/>
            <a:ext cx="550545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EDCE3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339fc7581340fc"/>
          <a:stretch xmlns:a="http://schemas.openxmlformats.org/drawingml/2006/main"/>
        </p:blipFill>
        <p:spPr>
          <a:xfrm xmlns:a="http://schemas.openxmlformats.org/drawingml/2006/main">
            <a:off x="5905500" y="2479675"/>
            <a:ext cx="5162550" cy="3441700"/>
          </a:xfrm>
          <a:prstGeom xmlns:a="http://schemas.openxmlformats.org/drawingml/2006/main" prst="roundRect">
            <a:avLst>
              <a:gd name="adj" fmla="val 2083"/>
            </a:avLst>
          </a:prstGeom>
        </p:spPr>
      </p:pic>
    </p:spTree>
    <p:extLst>
      <p:ext uri="{BB962C8B-B14F-4D97-AF65-F5344CB8AC3E}">
        <p14:creationId xmlns:p14="http://schemas.microsoft.com/office/powerpoint/2010/main" val="13095207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1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FF5B4C-CC4D-4764-97B9-8FF3D8409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36DCB6-9167-4C52-91D8-CCE12FE5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66775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C9"/>
          </a:solidFill>
          <a:ln xmlns:a="http://schemas.openxmlformats.org/drawingml/2006/main" w="0">
            <a:solidFill>
              <a:srgbClr val="F7BDC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8079C5-6C31-47E6-B774-DC8B90067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4758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C84758"/>
                </a:solidFill>
                <a:latin typeface="Segoe UI"/>
                <a:ea typeface="Segoe UI"/>
                <a:cs typeface="Segoe UI"/>
              </a:rPr>
              <a:t>TRACEABILITY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2cafb292084726"/>
          <a:stretch xmlns:a="http://schemas.openxmlformats.org/drawingml/2006/main"/>
        </p:blipFill>
        <p:spPr>
          <a:xfrm xmlns:a="http://schemas.openxmlformats.org/drawingml/2006/main">
            <a:off x="8810625" y="181432"/>
            <a:ext cx="2857500" cy="56106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6490D9-EB4F-43C6-88E1-F7B24230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969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DCE3"/>
          </a:solidFill>
          <a:ln xmlns:a="http://schemas.openxmlformats.org/drawingml/2006/main" w="0">
            <a:solidFill>
              <a:srgbClr val="EEDC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3C37FC-FE58-485D-9BD3-4265E1170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532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87B81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887B81"/>
                </a:solidFill>
                <a:latin typeface="Segoe UI"/>
                <a:ea typeface="Segoe UI"/>
                <a:cs typeface="Segoe UI"/>
              </a:rPr>
              <a:t>WMPP DATA PLATFORM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E14247-0DB9-4036-8A94-B3C4512A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56A70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756A70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37F49E-7669-4829-A972-E5DAC897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083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B2427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925" b="1">
                <a:solidFill>
                  <a:srgbClr val="2B2427"/>
                </a:solidFill>
                <a:latin typeface="Segoe UI Semibold"/>
                <a:ea typeface="Segoe UI Semibold"/>
                <a:cs typeface="Segoe UI Semibold"/>
              </a:rPr>
              <a:t>Requirements are now connected to report delivery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BA86D1-5C15-4AA4-80D0-251DD11CE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669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B7D"/>
          </a:solidFill>
          <a:ln xmlns:a="http://schemas.openxmlformats.org/drawingml/2006/main" w="0">
            <a:solidFill>
              <a:srgbClr val="E96B7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827FCD-5EC2-420A-A792-C72C0836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09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4758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C84758"/>
                </a:solidFill>
                <a:latin typeface="Segoe UI"/>
                <a:ea typeface="Segoe UI"/>
                <a:cs typeface="Segoe UI"/>
              </a:rPr>
              <a:t>VISIBLE CONTROL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3C0F8E-880C-4F1E-AF9B-09156244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0"/>
            <a:ext cx="4572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1575C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61575C"/>
                </a:solidFill>
                <a:latin typeface="Segoe UI"/>
                <a:ea typeface="Segoe UI"/>
                <a:cs typeface="Segoe UI"/>
              </a:rPr>
              <a:t>The report links KPI IDs and requirements to measure names, pages, status, priority and stakeholder information.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6C09C2-ACDA-4B45-B351-B4C3A0A45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481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B7D"/>
          </a:solidFill>
          <a:ln xmlns:a="http://schemas.openxmlformats.org/drawingml/2006/main" w="0">
            <a:solidFill>
              <a:srgbClr val="E96B7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E8E858-21A5-4DCA-8E27-9A78BDBF0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33900"/>
            <a:ext cx="4572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56A70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756A70"/>
                </a:solidFill>
                <a:latin typeface="Segoe UI"/>
                <a:ea typeface="Segoe UI"/>
                <a:cs typeface="Segoe UI"/>
              </a:rPr>
              <a:t>Current view: 117 KPI IDs, 80 reportable requirements and 33 marked complete. Formal baseline reconciliation is still required.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D245C4-47C5-48EE-BBE1-D20F4ADAA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247900"/>
            <a:ext cx="550545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EDCE3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9d360e157648b2"/>
          <a:stretch xmlns:a="http://schemas.openxmlformats.org/drawingml/2006/main"/>
        </p:blipFill>
        <p:spPr>
          <a:xfrm xmlns:a="http://schemas.openxmlformats.org/drawingml/2006/main">
            <a:off x="6642209" y="2371725"/>
            <a:ext cx="3689131" cy="3657600"/>
          </a:xfrm>
          <a:prstGeom xmlns:a="http://schemas.openxmlformats.org/drawingml/2006/main" prst="roundRect">
            <a:avLst>
              <a:gd name="adj" fmla="val 2083"/>
            </a:avLst>
          </a:prstGeom>
        </p:spPr>
      </p:pic>
    </p:spTree>
    <p:extLst>
      <p:ext uri="{BB962C8B-B14F-4D97-AF65-F5344CB8AC3E}">
        <p14:creationId xmlns:p14="http://schemas.microsoft.com/office/powerpoint/2010/main" val="10165069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1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CCFBD0-58D5-4EAE-96D8-545B47074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0AE813-7AE9-4682-947E-837268DCF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66775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C9"/>
          </a:solidFill>
          <a:ln xmlns:a="http://schemas.openxmlformats.org/drawingml/2006/main" w="0">
            <a:solidFill>
              <a:srgbClr val="F7BDC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3C6D49-E8C1-4864-941A-D75D8AE3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4758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C84758"/>
                </a:solidFill>
                <a:latin typeface="Segoe UI"/>
                <a:ea typeface="Segoe UI"/>
                <a:cs typeface="Segoe UI"/>
              </a:rPr>
              <a:t>DELIVERY TRACEABILITY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a8c9364904465d"/>
          <a:stretch xmlns:a="http://schemas.openxmlformats.org/drawingml/2006/main"/>
        </p:blipFill>
        <p:spPr>
          <a:xfrm xmlns:a="http://schemas.openxmlformats.org/drawingml/2006/main">
            <a:off x="8810625" y="181432"/>
            <a:ext cx="2857500" cy="56106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4B4750-61E5-4C6A-91F4-EB9E119FB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969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DCE3"/>
          </a:solidFill>
          <a:ln xmlns:a="http://schemas.openxmlformats.org/drawingml/2006/main" w="0">
            <a:solidFill>
              <a:srgbClr val="EEDC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1CB054-E18A-43CE-B78D-F4D6CF863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532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87B81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887B81"/>
                </a:solidFill>
                <a:latin typeface="Segoe UI"/>
                <a:ea typeface="Segoe UI"/>
                <a:cs typeface="Segoe UI"/>
              </a:rPr>
              <a:t>WMPP DATA PLATFORM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993899-3E00-4507-AB16-C242F7325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56A70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756A70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6A3262-0D17-46E6-82E8-4BFDCB00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083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B2427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925" b="1">
                <a:solidFill>
                  <a:srgbClr val="2B2427"/>
                </a:solidFill>
                <a:latin typeface="Segoe UI Semibold"/>
                <a:ea typeface="Segoe UI Semibold"/>
                <a:cs typeface="Segoe UI Semibold"/>
              </a:rPr>
              <a:t>Evidence separates delivered outcomes from remaining gates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14ED7F-7B11-4CAB-B807-E2498E3E1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669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B7D"/>
          </a:solidFill>
          <a:ln xmlns:a="http://schemas.openxmlformats.org/drawingml/2006/main" w="0">
            <a:solidFill>
              <a:srgbClr val="E96B7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28C293-E963-44E4-8331-DE69706B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81175"/>
            <a:ext cx="981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56A70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756A70"/>
                </a:solidFill>
                <a:latin typeface="Segoe UI"/>
                <a:ea typeface="Segoe UI"/>
                <a:cs typeface="Segoe UI"/>
              </a:rPr>
              <a:t>Detailed requirement mapping is retained in the supporting progress report.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400050" y="2324100"/>
          <a:ext xmlns:a="http://schemas.openxmlformats.org/drawingml/2006/main" cx="1083945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24150"/>
                <a:gridCol w="2990850"/>
                <a:gridCol w="1219200"/>
                <a:gridCol w="3905250"/>
              </a:tblGrid>
              <a:tr h="51979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Outcome</a:t>
                      </a:r>
                    </a:p>
                  </a:txBody>
                  <a:tcPr marL="95250" marR="95250" marT="76200" marB="76200">
                    <a:solidFill>
                      <a:srgbClr val="2B24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Evidence</a:t>
                      </a:r>
                    </a:p>
                  </a:txBody>
                  <a:tcPr marL="95250" marR="95250" marT="76200" marB="76200">
                    <a:solidFill>
                      <a:srgbClr val="2B24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Status</a:t>
                      </a:r>
                    </a:p>
                  </a:txBody>
                  <a:tcPr marL="95250" marR="95250" marT="76200" marB="76200">
                    <a:solidFill>
                      <a:srgbClr val="2B24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Acceptance gate</a:t>
                      </a:r>
                    </a:p>
                  </a:txBody>
                  <a:tcPr marL="95250" marR="95250" marT="76200" marB="76200">
                    <a:solidFill>
                      <a:srgbClr val="2B2427"/>
                    </a:solidFill>
                  </a:tcPr>
                </a:tc>
              </a:tr>
              <a:tr h="519793"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2B2427"/>
                          </a:solidFill>
                          <a:latin typeface="Segoe UI"/>
                          <a:ea typeface="Segoe UI"/>
                          <a:cs typeface="Segoe UI"/>
                        </a:rPr>
                        <a:t>Remove network-drive dependency</a:t>
                      </a:r>
                    </a:p>
                  </a:txBody>
                  <a:tcPr marL="95250" marR="95250" marT="66675" marB="66675">
                    <a:solidFill>
                      <a:srgbClr val="FF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2B2427"/>
                          </a:solidFill>
                          <a:latin typeface="Segoe UI"/>
                          <a:ea typeface="Segoe UI"/>
                          <a:cs typeface="Segoe UI"/>
                        </a:rPr>
                        <a:t>No network/file refs in TMDL</a:t>
                      </a:r>
                    </a:p>
                  </a:txBody>
                  <a:tcPr marL="95250" marR="95250" marT="66675" marB="66675">
                    <a:solidFill>
                      <a:srgbClr val="FF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438B70"/>
                          </a:solidFill>
                          <a:latin typeface="Segoe UI"/>
                          <a:ea typeface="Segoe UI"/>
                          <a:cs typeface="Segoe UI"/>
                        </a:rPr>
                        <a:t>Delivered</a:t>
                      </a:r>
                    </a:p>
                  </a:txBody>
                  <a:tcPr marL="95250" marR="95250" marT="66675" marB="66675">
                    <a:solidFill>
                      <a:srgbClr val="E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2B2427"/>
                          </a:solidFill>
                          <a:latin typeface="Segoe UI"/>
                          <a:ea typeface="Segoe UI"/>
                          <a:cs typeface="Segoe UI"/>
                        </a:rPr>
                        <a:t>Observe production refresh</a:t>
                      </a:r>
                    </a:p>
                  </a:txBody>
                  <a:tcPr marL="95250" marR="95250" marT="66675" marB="66675">
                    <a:solidFill>
                      <a:srgbClr val="FFF9FB"/>
                    </a:solidFill>
                  </a:tcPr>
                </a:tc>
              </a:tr>
              <a:tr h="519793"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2B2427"/>
                          </a:solidFill>
                          <a:latin typeface="Segoe UI"/>
                          <a:ea typeface="Segoe UI"/>
                          <a:cs typeface="Segoe UI"/>
                        </a:rPr>
                        <a:t>Use governed cloud source</a:t>
                      </a:r>
                    </a:p>
                  </a:txBody>
                  <a:tcPr marL="95250" marR="95250" marT="66675" marB="66675">
                    <a:solidFill>
                      <a:srgbClr val="FF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2B2427"/>
                          </a:solidFill>
                          <a:latin typeface="Segoe UI"/>
                          <a:ea typeface="Segoe UI"/>
                          <a:cs typeface="Segoe UI"/>
                        </a:rPr>
                        <a:t>37 tables → LH_BCT_WMPP</a:t>
                      </a:r>
                    </a:p>
                  </a:txBody>
                  <a:tcPr marL="95250" marR="95250" marT="66675" marB="66675">
                    <a:solidFill>
                      <a:srgbClr val="FF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438B70"/>
                          </a:solidFill>
                          <a:latin typeface="Segoe UI"/>
                          <a:ea typeface="Segoe UI"/>
                          <a:cs typeface="Segoe UI"/>
                        </a:rPr>
                        <a:t>Delivered</a:t>
                      </a:r>
                    </a:p>
                  </a:txBody>
                  <a:tcPr marL="95250" marR="95250" marT="66675" marB="66675">
                    <a:solidFill>
                      <a:srgbClr val="E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2B2427"/>
                          </a:solidFill>
                          <a:latin typeface="Segoe UI"/>
                          <a:ea typeface="Segoe UI"/>
                          <a:cs typeface="Segoe UI"/>
                        </a:rPr>
                        <a:t>Operational handover</a:t>
                      </a:r>
                    </a:p>
                  </a:txBody>
                  <a:tcPr marL="95250" marR="95250" marT="66675" marB="66675">
                    <a:solidFill>
                      <a:srgbClr val="FFF9FB"/>
                    </a:solidFill>
                  </a:tcPr>
                </a:tc>
              </a:tr>
              <a:tr h="519793"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2B2427"/>
                          </a:solidFill>
                          <a:latin typeface="Segoe UI"/>
                          <a:ea typeface="Segoe UI"/>
                          <a:cs typeface="Segoe UI"/>
                        </a:rPr>
                        <a:t>Preserve reporting and traceability</a:t>
                      </a:r>
                    </a:p>
                  </a:txBody>
                  <a:tcPr marL="95250" marR="95250" marT="66675" marB="66675">
                    <a:solidFill>
                      <a:srgbClr val="FF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2B2427"/>
                          </a:solidFill>
                          <a:latin typeface="Segoe UI"/>
                          <a:ea typeface="Segoe UI"/>
                          <a:cs typeface="Segoe UI"/>
                        </a:rPr>
                        <a:t>10 pages + RTM screenshot</a:t>
                      </a:r>
                    </a:p>
                  </a:txBody>
                  <a:tcPr marL="95250" marR="95250" marT="66675" marB="66675">
                    <a:solidFill>
                      <a:srgbClr val="FF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438B70"/>
                          </a:solidFill>
                          <a:latin typeface="Segoe UI"/>
                          <a:ea typeface="Segoe UI"/>
                          <a:cs typeface="Segoe UI"/>
                        </a:rPr>
                        <a:t>Delivered</a:t>
                      </a:r>
                    </a:p>
                  </a:txBody>
                  <a:tcPr marL="95250" marR="95250" marT="66675" marB="66675">
                    <a:solidFill>
                      <a:srgbClr val="E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2B2427"/>
                          </a:solidFill>
                          <a:latin typeface="Segoe UI"/>
                          <a:ea typeface="Segoe UI"/>
                          <a:cs typeface="Segoe UI"/>
                        </a:rPr>
                        <a:t>Business regression / UAT</a:t>
                      </a:r>
                    </a:p>
                  </a:txBody>
                  <a:tcPr marL="95250" marR="95250" marT="66675" marB="66675">
                    <a:solidFill>
                      <a:srgbClr val="FFF9FB"/>
                    </a:solidFill>
                  </a:tcPr>
                </a:tc>
              </a:tr>
              <a:tr h="519793"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2B2427"/>
                          </a:solidFill>
                          <a:latin typeface="Segoe UI"/>
                          <a:ea typeface="Segoe UI"/>
                          <a:cs typeface="Segoe UI"/>
                        </a:rPr>
                        <a:t>Bronze and Silver foundations</a:t>
                      </a:r>
                    </a:p>
                  </a:txBody>
                  <a:tcPr marL="95250" marR="95250" marT="66675" marB="66675">
                    <a:solidFill>
                      <a:srgbClr val="FF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2B2427"/>
                          </a:solidFill>
                          <a:latin typeface="Segoe UI"/>
                          <a:ea typeface="Segoe UI"/>
                          <a:cs typeface="Segoe UI"/>
                        </a:rPr>
                        <a:t>Audit framework + 57-table contract</a:t>
                      </a:r>
                    </a:p>
                  </a:txBody>
                  <a:tcPr marL="95250" marR="95250" marT="66675" marB="66675">
                    <a:solidFill>
                      <a:srgbClr val="FF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72AEB5"/>
                          </a:solidFill>
                          <a:latin typeface="Segoe UI"/>
                          <a:ea typeface="Segoe UI"/>
                          <a:cs typeface="Segoe UI"/>
                        </a:rPr>
                        <a:t>Built</a:t>
                      </a:r>
                    </a:p>
                  </a:txBody>
                  <a:tcPr marL="95250" marR="95250" marT="66675" marB="66675">
                    <a:solidFill>
                      <a:srgbClr val="EA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2B2427"/>
                          </a:solidFill>
                          <a:latin typeface="Segoe UI"/>
                          <a:ea typeface="Segoe UI"/>
                          <a:cs typeface="Segoe UI"/>
                        </a:rPr>
                        <a:t>Execute and reconcile in Fabric</a:t>
                      </a:r>
                    </a:p>
                  </a:txBody>
                  <a:tcPr marL="95250" marR="95250" marT="66675" marB="66675">
                    <a:solidFill>
                      <a:srgbClr val="FFF9FB"/>
                    </a:solidFill>
                  </a:tcPr>
                </a:tc>
              </a:tr>
              <a:tr h="519793"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2B2427"/>
                          </a:solidFill>
                          <a:latin typeface="Segoe UI"/>
                          <a:ea typeface="Segoe UI"/>
                          <a:cs typeface="Segoe UI"/>
                        </a:rPr>
                        <a:t>Gold dimensional model</a:t>
                      </a:r>
                    </a:p>
                  </a:txBody>
                  <a:tcPr marL="95250" marR="95250" marT="66675" marB="66675">
                    <a:solidFill>
                      <a:srgbClr val="FF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2B2427"/>
                          </a:solidFill>
                          <a:latin typeface="Segoe UI"/>
                          <a:ea typeface="Segoe UI"/>
                          <a:cs typeface="Segoe UI"/>
                        </a:rPr>
                        <a:t>Target design + notebook chain</a:t>
                      </a:r>
                    </a:p>
                  </a:txBody>
                  <a:tcPr marL="95250" marR="95250" marT="66675" marB="66675">
                    <a:solidFill>
                      <a:srgbClr val="FF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C98621"/>
                          </a:solidFill>
                          <a:latin typeface="Segoe UI"/>
                          <a:ea typeface="Segoe UI"/>
                          <a:cs typeface="Segoe UI"/>
                        </a:rPr>
                        <a:t>WIP</a:t>
                      </a:r>
                    </a:p>
                  </a:txBody>
                  <a:tcPr marL="95250" marR="95250" marT="66675" marB="66675"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2B2427"/>
                          </a:solidFill>
                          <a:latin typeface="Segoe UI"/>
                          <a:ea typeface="Segoe UI"/>
                          <a:cs typeface="Segoe UI"/>
                        </a:rPr>
                        <a:t>Complete facts, dimensions and KPIs</a:t>
                      </a:r>
                    </a:p>
                  </a:txBody>
                  <a:tcPr marL="95250" marR="95250" marT="66675" marB="66675">
                    <a:solidFill>
                      <a:srgbClr val="FFF9FB"/>
                    </a:solidFill>
                  </a:tcPr>
                </a:tc>
              </a:tr>
              <a:tr h="519793"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2B2427"/>
                          </a:solidFill>
                          <a:latin typeface="Segoe UI"/>
                          <a:ea typeface="Segoe UI"/>
                          <a:cs typeface="Segoe UI"/>
                        </a:rPr>
                        <a:t>Snapshots and Direct Lake</a:t>
                      </a:r>
                    </a:p>
                  </a:txBody>
                  <a:tcPr marL="95250" marR="95250" marT="66675" marB="66675">
                    <a:solidFill>
                      <a:srgbClr val="FF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2B2427"/>
                          </a:solidFill>
                          <a:latin typeface="Segoe UI"/>
                          <a:ea typeface="Segoe UI"/>
                          <a:cs typeface="Segoe UI"/>
                        </a:rPr>
                        <a:t>Snapshot logic + target architecture</a:t>
                      </a:r>
                    </a:p>
                  </a:txBody>
                  <a:tcPr marL="95250" marR="95250" marT="66675" marB="66675">
                    <a:solidFill>
                      <a:srgbClr val="FF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C98621"/>
                          </a:solidFill>
                          <a:latin typeface="Segoe UI"/>
                          <a:ea typeface="Segoe UI"/>
                          <a:cs typeface="Segoe UI"/>
                        </a:rPr>
                        <a:t>WIP</a:t>
                      </a:r>
                    </a:p>
                  </a:txBody>
                  <a:tcPr marL="95250" marR="95250" marT="66675" marB="66675"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2B2427"/>
                          </a:solidFill>
                          <a:latin typeface="Segoe UI"/>
                          <a:ea typeface="Segoe UI"/>
                          <a:cs typeface="Segoe UI"/>
                        </a:rPr>
                        <a:t>Historical replay and semantic cutover</a:t>
                      </a:r>
                    </a:p>
                  </a:txBody>
                  <a:tcPr marL="95250" marR="95250" marT="66675" marB="66675">
                    <a:solidFill>
                      <a:srgbClr val="FFF9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78869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1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88FD23-39F5-4525-BA0A-27F3C881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EA192F-E1C8-42BE-92A7-331CA92A5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66775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C9"/>
          </a:solidFill>
          <a:ln xmlns:a="http://schemas.openxmlformats.org/drawingml/2006/main" w="0">
            <a:solidFill>
              <a:srgbClr val="F7BDC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D041A9-C6AC-4D24-B101-4411B192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4758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C84758"/>
                </a:solidFill>
                <a:latin typeface="Segoe UI"/>
                <a:ea typeface="Segoe UI"/>
                <a:cs typeface="Segoe UI"/>
              </a:rPr>
              <a:t>MEDALLION DELIVERY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c6939b7a0f4edd"/>
          <a:stretch xmlns:a="http://schemas.openxmlformats.org/drawingml/2006/main"/>
        </p:blipFill>
        <p:spPr>
          <a:xfrm xmlns:a="http://schemas.openxmlformats.org/drawingml/2006/main">
            <a:off x="8810625" y="181432"/>
            <a:ext cx="2857500" cy="56106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9569A5-F705-4F6E-B2B8-89B6A0B67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969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DCE3"/>
          </a:solidFill>
          <a:ln xmlns:a="http://schemas.openxmlformats.org/drawingml/2006/main" w="0">
            <a:solidFill>
              <a:srgbClr val="EEDC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E247C0-7319-4410-9E99-8AD46278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532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87B81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887B81"/>
                </a:solidFill>
                <a:latin typeface="Segoe UI"/>
                <a:ea typeface="Segoe UI"/>
                <a:cs typeface="Segoe UI"/>
              </a:rPr>
              <a:t>WMPP DATA PLATFORM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9DFB51-4F3D-45C9-A36A-7C01F70D0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56A70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756A70"/>
                </a:solidFill>
                <a:latin typeface="Segoe UI"/>
                <a:ea typeface="Segoe UI"/>
                <a:cs typeface="Segoe UI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3BECB9-BB99-4C36-9AA4-D6A872530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083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B2427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925" b="1">
                <a:solidFill>
                  <a:srgbClr val="2B2427"/>
                </a:solidFill>
                <a:latin typeface="Segoe UI Semibold"/>
                <a:ea typeface="Segoe UI Semibold"/>
                <a:cs typeface="Segoe UI Semibold"/>
              </a:rPr>
              <a:t>The platform foundation is strong; the serving layer is underway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FEED2B-C9FB-4B7B-90C7-0E69DEEE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669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B7D"/>
          </a:solidFill>
          <a:ln xmlns:a="http://schemas.openxmlformats.org/drawingml/2006/main" w="0">
            <a:solidFill>
              <a:srgbClr val="E96B7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E0C498-5C50-416C-B6F9-41622032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495550"/>
            <a:ext cx="95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DCE3"/>
          </a:solidFill>
          <a:ln xmlns:a="http://schemas.openxmlformats.org/drawingml/2006/main" w="0">
            <a:solidFill>
              <a:srgbClr val="EEDC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D98E03-89D0-4902-BBF6-F39DF8C70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495550"/>
            <a:ext cx="95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DCE3"/>
          </a:solidFill>
          <a:ln xmlns:a="http://schemas.openxmlformats.org/drawingml/2006/main" w="0">
            <a:solidFill>
              <a:srgbClr val="EEDC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D580BF-FFF0-4D43-864E-97D19285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146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38B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75" b="1">
                <a:solidFill>
                  <a:srgbClr val="438B70"/>
                </a:solidFill>
                <a:latin typeface="Segoe UI Semibold"/>
                <a:ea typeface="Segoe UI Semibold"/>
                <a:cs typeface="Segoe UI Semibold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88B729-AC65-496A-B439-86D7F5C0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99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B2427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925" b="1">
                <a:solidFill>
                  <a:srgbClr val="2B2427"/>
                </a:solidFill>
                <a:latin typeface="Segoe UI Semibold"/>
                <a:ea typeface="Segoe UI Semibold"/>
                <a:cs typeface="Segoe UI Semibold"/>
              </a:rPr>
              <a:t>BRONZE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85F499-4278-4BDA-B94E-8C2CEB98D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628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8B70"/>
          </a:solidFill>
          <a:ln xmlns:a="http://schemas.openxmlformats.org/drawingml/2006/main" w="0">
            <a:solidFill>
              <a:srgbClr val="438B7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B0C90D-6379-42A3-BE85-F100F55CC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48125"/>
            <a:ext cx="30861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56A70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756A70"/>
                </a:solidFill>
                <a:latin typeface="Segoe UI"/>
                <a:ea typeface="Segoe UI"/>
                <a:cs typeface="Segoe UI"/>
              </a:rPr>
              <a:t>Archive ingestion, audit tables, retry/reload controls and source-history handling are implemented.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8725CD-8AF4-4156-9127-E0A24E50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673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8B7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438B70"/>
                </a:solidFill>
                <a:latin typeface="Segoe UI"/>
                <a:ea typeface="Segoe UI"/>
                <a:cs typeface="Segoe UI"/>
              </a:rPr>
              <a:t>FOUNDATION READY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4C33A4-800C-448E-BB50-83852F45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146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2AEB5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75" b="1">
                <a:solidFill>
                  <a:srgbClr val="72AEB5"/>
                </a:solidFill>
                <a:latin typeface="Segoe UI Semibold"/>
                <a:ea typeface="Segoe UI Semibold"/>
                <a:cs typeface="Segoe UI Semibold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F0D52C-89D9-4981-A3FF-78D7CEE3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099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B2427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925" b="1">
                <a:solidFill>
                  <a:srgbClr val="2B2427"/>
                </a:solidFill>
                <a:latin typeface="Segoe UI Semibold"/>
                <a:ea typeface="Segoe UI Semibold"/>
                <a:cs typeface="Segoe UI Semibold"/>
              </a:rPr>
              <a:t>SILVER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26FC26-70EE-4A46-9A51-B0465E89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14750"/>
            <a:ext cx="628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AEB5"/>
          </a:solidFill>
          <a:ln xmlns:a="http://schemas.openxmlformats.org/drawingml/2006/main" w="0">
            <a:solidFill>
              <a:srgbClr val="72AEB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D0AEC7-C6DC-4986-9857-3EACA9500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48125"/>
            <a:ext cx="30861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56A70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756A70"/>
                </a:solidFill>
                <a:latin typeface="Segoe UI"/>
                <a:ea typeface="Segoe UI"/>
                <a:cs typeface="Segoe UI"/>
              </a:rPr>
              <a:t>A 57-table schema contract and five data-quality rules validate locally. Live reconciliation remains.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A2576F-CDA6-4116-8001-9FCD431F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4673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2AEB5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72AEB5"/>
                </a:solidFill>
                <a:latin typeface="Segoe UI"/>
                <a:ea typeface="Segoe UI"/>
                <a:cs typeface="Segoe UI"/>
              </a:rPr>
              <a:t>STATICALLY VALIDATED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4DF305-7770-41EC-B60B-3BB87145B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146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84758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75" b="1">
                <a:solidFill>
                  <a:srgbClr val="C84758"/>
                </a:solidFill>
                <a:latin typeface="Segoe UI Semibold"/>
                <a:ea typeface="Segoe UI Semibold"/>
                <a:cs typeface="Segoe UI Semibold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C0153E-A318-4F1A-A866-0DF05D7F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099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B2427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925" b="1">
                <a:solidFill>
                  <a:srgbClr val="2B2427"/>
                </a:solidFill>
                <a:latin typeface="Segoe UI Semibold"/>
                <a:ea typeface="Segoe UI Semibold"/>
                <a:cs typeface="Segoe UI Semibold"/>
              </a:rPr>
              <a:t>GOLD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C80AA9-302C-426E-9B15-C4AAF687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14750"/>
            <a:ext cx="628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758"/>
          </a:solidFill>
          <a:ln xmlns:a="http://schemas.openxmlformats.org/drawingml/2006/main" w="0">
            <a:solidFill>
              <a:srgbClr val="C8475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2BDC39-CE28-4ACF-BB7A-F8B5D525B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48125"/>
            <a:ext cx="30861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56A70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756A70"/>
                </a:solidFill>
                <a:latin typeface="Segoe UI"/>
                <a:ea typeface="Segoe UI"/>
                <a:cs typeface="Segoe UI"/>
              </a:rPr>
              <a:t>Dimensional facts, conformed dimensions, KPI logic and Direct Lake serving are the active workstream.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E34947-002C-404D-BD96-68FD4A55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4673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4758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C84758"/>
                </a:solidFill>
                <a:latin typeface="Segoe UI"/>
                <a:ea typeface="Segoe UI"/>
                <a:cs typeface="Segoe UI"/>
              </a:rPr>
              <a:t>WORK IN PROGRESS</a:t>
            </a:r>
          </a:p>
        </p:txBody>
      </p:sp>
    </p:spTree>
    <p:extLst>
      <p:ext uri="{BB962C8B-B14F-4D97-AF65-F5344CB8AC3E}">
        <p14:creationId xmlns:p14="http://schemas.microsoft.com/office/powerpoint/2010/main" val="14400697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1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98300E-3630-43D6-9C73-138A0459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54C234-6C2D-4610-8147-016941B0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66775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C9"/>
          </a:solidFill>
          <a:ln xmlns:a="http://schemas.openxmlformats.org/drawingml/2006/main" w="0">
            <a:solidFill>
              <a:srgbClr val="F7BDC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BFBC07-A28A-4CB8-A8B6-975A578B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4758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C84758"/>
                </a:solidFill>
                <a:latin typeface="Segoe UI"/>
                <a:ea typeface="Segoe UI"/>
                <a:cs typeface="Segoe UI"/>
              </a:rPr>
              <a:t>POINT-IN-TIME REPORTING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794cf191344eee"/>
          <a:stretch xmlns:a="http://schemas.openxmlformats.org/drawingml/2006/main"/>
        </p:blipFill>
        <p:spPr>
          <a:xfrm xmlns:a="http://schemas.openxmlformats.org/drawingml/2006/main">
            <a:off x="8810625" y="181432"/>
            <a:ext cx="2857500" cy="56106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CA4BC8-6BE9-4137-82CE-32590E85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969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DCE3"/>
          </a:solidFill>
          <a:ln xmlns:a="http://schemas.openxmlformats.org/drawingml/2006/main" w="0">
            <a:solidFill>
              <a:srgbClr val="EEDC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60968C-5DA1-44F0-8E7E-B918A70B6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532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87B81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887B81"/>
                </a:solidFill>
                <a:latin typeface="Segoe UI"/>
                <a:ea typeface="Segoe UI"/>
                <a:cs typeface="Segoe UI"/>
              </a:rPr>
              <a:t>WMPP DATA PLATFORM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242D1B-3B18-4DB0-BCE4-8EF0353E0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56A70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756A70"/>
                </a:solidFill>
                <a:latin typeface="Segoe UI"/>
                <a:ea typeface="Segoe UI"/>
                <a:cs typeface="Segoe UI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1F9604-1767-467F-8455-B92D20EC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083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B2427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925" b="1">
                <a:solidFill>
                  <a:srgbClr val="2B2427"/>
                </a:solidFill>
                <a:latin typeface="Segoe UI Semibold"/>
                <a:ea typeface="Segoe UI Semibold"/>
                <a:cs typeface="Segoe UI Semibold"/>
              </a:rPr>
              <a:t>Monthly referral snapshots are the next user-facing capability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604501-B975-44BC-AD6D-8FE4B2F2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669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B7D"/>
          </a:solidFill>
          <a:ln xmlns:a="http://schemas.openxmlformats.org/drawingml/2006/main" w="0">
            <a:solidFill>
              <a:srgbClr val="E96B7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E345A2-E0F5-4F6C-A555-B46EC608E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62350"/>
            <a:ext cx="876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DCE3"/>
          </a:solidFill>
          <a:ln xmlns:a="http://schemas.openxmlformats.org/drawingml/2006/main" w="0">
            <a:solidFill>
              <a:srgbClr val="EEDC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7C6BB9-A3F2-410A-88E9-1FD8D091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766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1F4"/>
          </a:solidFill>
          <a:ln xmlns:a="http://schemas.openxmlformats.org/drawingml/2006/main" w="38100">
            <a:solidFill>
              <a:srgbClr val="438B7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47474F-5092-495E-8C0E-8C32F0BB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3852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38B70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438B70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A2C99D-501C-4930-90CC-8261C0355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8B7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438B70"/>
                </a:solidFill>
                <a:latin typeface="Segoe UI"/>
                <a:ea typeface="Segoe UI"/>
                <a:cs typeface="Segoe UI"/>
              </a:rPr>
              <a:t>REPLAY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F4C692-7758-45C5-80C8-87AF917D2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100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B2427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800" b="1">
                <a:solidFill>
                  <a:srgbClr val="2B2427"/>
                </a:solidFill>
                <a:latin typeface="Segoe UI Semibold"/>
                <a:ea typeface="Segoe UI Semibold"/>
                <a:cs typeface="Segoe UI Semibold"/>
              </a:rPr>
              <a:t>Load historical archives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B6DADA-0EB7-4F9C-9DA9-7919EDB0C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43450"/>
            <a:ext cx="295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56A70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756A70"/>
                </a:solidFill>
                <a:latin typeface="Segoe UI"/>
                <a:ea typeface="Segoe UI"/>
                <a:cs typeface="Segoe UI"/>
              </a:rPr>
              <a:t>Select the canonical export for each month.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706336-4D09-412A-B459-189B1B03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766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1F4"/>
          </a:solidFill>
          <a:ln xmlns:a="http://schemas.openxmlformats.org/drawingml/2006/main" w="38100">
            <a:solidFill>
              <a:srgbClr val="72AEB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B4656C-28B1-46FF-A6D1-15E1D523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3852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2AEB5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72AEB5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F668E3-95BF-4619-9A64-4F6B2F36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2AEB5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72AEB5"/>
                </a:solidFill>
                <a:latin typeface="Segoe UI"/>
                <a:ea typeface="Segoe UI"/>
                <a:cs typeface="Segoe UI"/>
              </a:rPr>
              <a:t>SNAPSHOT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F9DC1E-EEB6-4ABD-9D1C-5D111B012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100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B2427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800" b="1">
                <a:solidFill>
                  <a:srgbClr val="2B2427"/>
                </a:solidFill>
                <a:latin typeface="Segoe UI Semibold"/>
                <a:ea typeface="Segoe UI Semibold"/>
                <a:cs typeface="Segoe UI Semibold"/>
              </a:rPr>
              <a:t>Create month-end facts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34B159-C37E-4A73-A323-F1FB521CF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743450"/>
            <a:ext cx="295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56A70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756A70"/>
                </a:solidFill>
                <a:latin typeface="Segoe UI"/>
                <a:ea typeface="Segoe UI"/>
                <a:cs typeface="Segoe UI"/>
              </a:rPr>
              <a:t>Write an AS_OF_DATE grain to the Gold snapshot fact.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DB1E5D-461C-4BDD-8D92-CA534D5A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2766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1F4"/>
          </a:solidFill>
          <a:ln xmlns:a="http://schemas.openxmlformats.org/drawingml/2006/main" w="38100">
            <a:solidFill>
              <a:srgbClr val="E96B7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869FD5-AD66-44EE-BF2E-8D571016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43852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96B7D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E96B7D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884B00-18A5-4BED-AE98-7A18EE98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717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96B7D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E96B7D"/>
                </a:solidFill>
                <a:latin typeface="Segoe UI"/>
                <a:ea typeface="Segoe UI"/>
                <a:cs typeface="Segoe UI"/>
              </a:rPr>
              <a:t>REPORT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F38113-CB81-4254-A191-E1350B353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2100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B2427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800" b="1">
                <a:solidFill>
                  <a:srgbClr val="2B2427"/>
                </a:solidFill>
                <a:latin typeface="Segoe UI Semibold"/>
                <a:ea typeface="Segoe UI Semibold"/>
                <a:cs typeface="Segoe UI Semibold"/>
              </a:rPr>
              <a:t>Expose trend analysis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D5DE66-7599-4328-AF8B-89A77FF8D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743450"/>
            <a:ext cx="295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56A70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756A70"/>
                </a:solidFill>
                <a:latin typeface="Segoe UI"/>
                <a:ea typeface="Segoe UI"/>
                <a:cs typeface="Segoe UI"/>
              </a:rPr>
              <a:t>Compare referral position, backlog and outcomes over time.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A43BAF-DB31-476F-B695-02AAF6D9C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102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8B7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438B70"/>
                </a:solidFill>
                <a:latin typeface="Segoe UI"/>
                <a:ea typeface="Segoe UI"/>
                <a:cs typeface="Segoe UI"/>
              </a:rPr>
              <a:t>CODED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88715C-4536-41EA-A95E-2C8F558B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8102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2AEB5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72AEB5"/>
                </a:solidFill>
                <a:latin typeface="Segoe UI"/>
                <a:ea typeface="Segoe UI"/>
                <a:cs typeface="Segoe UI"/>
              </a:rPr>
              <a:t>SIMULATED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082BAA-37C9-4960-9E94-CDB22F40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8102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4758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C84758"/>
                </a:solidFill>
                <a:latin typeface="Segoe UI"/>
                <a:ea typeface="Segoe UI"/>
                <a:cs typeface="Segoe UI"/>
              </a:rPr>
              <a:t>COMING SOON</a:t>
            </a:r>
          </a:p>
        </p:txBody>
      </p:sp>
    </p:spTree>
    <p:extLst>
      <p:ext uri="{BB962C8B-B14F-4D97-AF65-F5344CB8AC3E}">
        <p14:creationId xmlns:p14="http://schemas.microsoft.com/office/powerpoint/2010/main" val="9542375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2B2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9d2b829e924318"/>
          <a:stretch xmlns:a="http://schemas.openxmlformats.org/drawingml/2006/main"/>
        </p:blipFill>
        <p:spPr>
          <a:xfrm xmlns:a="http://schemas.openxmlformats.org/drawingml/2006/main">
            <a:off x="400050" y="348293"/>
            <a:ext cx="2952750" cy="579764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7E60CE-FB28-4848-BBEB-0800B7C25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92A5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092A5"/>
                </a:solidFill>
                <a:latin typeface="Segoe UI"/>
                <a:ea typeface="Segoe UI"/>
                <a:cs typeface="Segoe UI"/>
              </a:rPr>
              <a:t>NEXT DELIVERY GATE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FF4C0C-A643-4B7B-97C3-31889177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435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Prove the full path in Fabric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65E971-3CB8-4E06-A820-CB361813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67050"/>
            <a:ext cx="9906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B7D"/>
          </a:solidFill>
          <a:ln xmlns:a="http://schemas.openxmlformats.org/drawingml/2006/main" w="0">
            <a:solidFill>
              <a:srgbClr val="E96B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3734DD-34D4-4CC4-9A14-E22591E1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92A5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350" b="1">
                <a:solidFill>
                  <a:srgbClr val="F092A5"/>
                </a:solidFill>
                <a:latin typeface="Segoe UI Semibold"/>
                <a:ea typeface="Segoe UI Semibold"/>
                <a:cs typeface="Segoe UI Semibold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7A83B6-80D4-4970-85C5-4B05A2E3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195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Run Bronze → Silver → Gold end-to-end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81DEF7-A042-4A25-AF10-0C915EE4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67175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065"/>
          </a:solidFill>
          <a:ln xmlns:a="http://schemas.openxmlformats.org/drawingml/2006/main" w="0">
            <a:solidFill>
              <a:srgbClr val="5D606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D40525-04A7-420B-9543-A9469A62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43400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92A5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350" b="1">
                <a:solidFill>
                  <a:srgbClr val="F092A5"/>
                </a:solidFill>
                <a:latin typeface="Segoe UI Semibold"/>
                <a:ea typeface="Segoe UI Semibold"/>
                <a:cs typeface="Segoe UI Semibold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540582-7379-4351-9FA9-3C201E9E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434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Reconcile requirements, KPIs and measure counts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1050FC-C5E4-444C-8155-1256CDDF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91075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065"/>
          </a:solidFill>
          <a:ln xmlns:a="http://schemas.openxmlformats.org/drawingml/2006/main" w="0">
            <a:solidFill>
              <a:srgbClr val="5D606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9D36E4-9813-4ECF-BB34-745EC5AFA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67300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92A5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350" b="1">
                <a:solidFill>
                  <a:srgbClr val="F092A5"/>
                </a:solidFill>
                <a:latin typeface="Segoe UI Semibold"/>
                <a:ea typeface="Segoe UI Semibold"/>
                <a:cs typeface="Segoe UI Semibold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789AAF-607B-43F7-8C01-BBFDCA1A0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673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Repoint to Gold/Direct Lake and validate monthly snapshots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D91953-BA14-47BC-83D9-980A36CA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14975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065"/>
          </a:solidFill>
          <a:ln xmlns:a="http://schemas.openxmlformats.org/drawingml/2006/main" w="0">
            <a:solidFill>
              <a:srgbClr val="5D606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2C06F8-008E-4774-B25C-7A846DC4B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92A5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092A5"/>
                </a:solidFill>
                <a:latin typeface="Segoe UI"/>
                <a:ea typeface="Segoe UI"/>
                <a:cs typeface="Segoe UI"/>
              </a:rPr>
              <a:t>SUCCESS = UAT + RECONCILIATION + OPERABILITY</a:t>
            </a:r>
          </a:p>
        </p:txBody>
      </p:sp>
    </p:spTree>
    <p:extLst>
      <p:ext uri="{BB962C8B-B14F-4D97-AF65-F5344CB8AC3E}">
        <p14:creationId xmlns:p14="http://schemas.microsoft.com/office/powerpoint/2010/main" val="16161031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2026-08-11T22:49:48.9630000Z</dcterms:created>
  <dcterms:modified xsi:type="dcterms:W3CDTF">2026-08-11T22:49:48.9630000Z</dcterms:modified>
</coreProperties>
</file>